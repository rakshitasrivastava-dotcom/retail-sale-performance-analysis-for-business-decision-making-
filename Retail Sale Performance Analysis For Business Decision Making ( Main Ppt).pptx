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client id="{DDC0B4EE-2D5D-447B-AE11-6BA75CAE74F0}" v="57" dt="2026-02-19T11:04:26.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56" y="64"/>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hyperlink" Target="https://drive.google.com/file/d/1MMOPuVDT3CBnkT3lGQKKGFmFTHUMPEep/view?usp=sharing"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2334816" y="4308483"/>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2351742" y="4442250"/>
            <a:ext cx="1633432"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Rakshita Srivastava</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1939485" y="4317287"/>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4280173" y="4279537"/>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4280173" y="4411495"/>
            <a:ext cx="2272871" cy="48391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rakshitasrivastava450@gmail.com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3831048" y="4286461"/>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410568" y="4317287"/>
            <a:ext cx="2272871" cy="355847"/>
            <a:chOff x="3076275" y="4288234"/>
            <a:chExt cx="2272871" cy="355847"/>
          </a:xfrm>
        </p:grpSpPr>
        <p:sp>
          <p:nvSpPr>
            <p:cNvPr id="67" name="TextBox 41">
              <a:extLst>
                <a:ext uri="{FF2B5EF4-FFF2-40B4-BE49-F238E27FC236}">
                  <a16:creationId xmlns:a16="http://schemas.microsoft.com/office/drawing/2014/main" id="{5FE6F280-D970-382B-5260-25E219F86722}"/>
                </a:ext>
              </a:extLst>
            </p:cNvPr>
            <p:cNvSpPr txBox="1"/>
            <p:nvPr/>
          </p:nvSpPr>
          <p:spPr>
            <a:xfrm>
              <a:off x="3080366" y="4288234"/>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076275" y="4416646"/>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Ms. Umamaheshwari</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6"/>
          <a:srcRect l="28109" t="6546" r="28551" b="49509"/>
          <a:stretch>
            <a:fillRect/>
          </a:stretch>
        </p:blipFill>
        <p:spPr>
          <a:xfrm>
            <a:off x="34753" y="4324335"/>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7"/>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8"/>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9"/>
          <a:srcRect b="19729"/>
          <a:stretch>
            <a:fillRect/>
          </a:stretch>
        </p:blipFill>
        <p:spPr>
          <a:xfrm>
            <a:off x="173754" y="1046557"/>
            <a:ext cx="3854253" cy="1849530"/>
          </a:xfrm>
          <a:prstGeom prst="rect">
            <a:avLst/>
          </a:prstGeom>
        </p:spPr>
      </p:pic>
      <p:sp>
        <p:nvSpPr>
          <p:cNvPr id="27" name="TextBox 26">
            <a:extLst>
              <a:ext uri="{FF2B5EF4-FFF2-40B4-BE49-F238E27FC236}">
                <a16:creationId xmlns:a16="http://schemas.microsoft.com/office/drawing/2014/main" id="{56CE2B4C-42F3-6C3D-A2AC-C0C414252A53}"/>
              </a:ext>
            </a:extLst>
          </p:cNvPr>
          <p:cNvSpPr txBox="1"/>
          <p:nvPr/>
        </p:nvSpPr>
        <p:spPr>
          <a:xfrm>
            <a:off x="68461" y="3462539"/>
            <a:ext cx="5447162" cy="646331"/>
          </a:xfrm>
          <a:prstGeom prst="rect">
            <a:avLst/>
          </a:prstGeom>
          <a:noFill/>
        </p:spPr>
        <p:txBody>
          <a:bodyPr wrap="square">
            <a:spAutoFit/>
          </a:bodyPr>
          <a:lstStyle/>
          <a:p>
            <a:pPr algn="ctr">
              <a:spcBef>
                <a:spcPts val="400"/>
              </a:spcBef>
              <a:spcAft>
                <a:spcPts val="400"/>
              </a:spcAft>
              <a:buNone/>
            </a:pPr>
            <a:r>
              <a:rPr lang="en-IN" sz="1800" b="1" dirty="0">
                <a:solidFill>
                  <a:srgbClr val="1B3A8A"/>
                </a:solidFill>
                <a:effectLst/>
                <a:latin typeface="Arial" panose="020B0604020202020204" pitchFamily="34" charset="0"/>
                <a:ea typeface="Arial" panose="020B0604020202020204" pitchFamily="34" charset="0"/>
              </a:rPr>
              <a:t>[</a:t>
            </a:r>
            <a:r>
              <a:rPr lang="en-US" b="1" dirty="0">
                <a:solidFill>
                  <a:srgbClr val="1B3A8A"/>
                </a:solidFill>
                <a:latin typeface="Arial" panose="020B0604020202020204" pitchFamily="34" charset="0"/>
                <a:ea typeface="Arial" panose="020B0604020202020204" pitchFamily="34" charset="0"/>
              </a:rPr>
              <a:t>Retail Sale Performance Analysis For Business Decision Making]</a:t>
            </a:r>
            <a:endParaRPr lang="en-IN" sz="1050" dirty="0">
              <a:effectLst/>
              <a:latin typeface="Arial" panose="020B0604020202020204" pitchFamily="34" charset="0"/>
              <a:ea typeface="Arial" panose="020B0604020202020204" pitchFamily="34" charset="0"/>
            </a:endParaRPr>
          </a:p>
        </p:txBody>
      </p:sp>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25240" y="1082801"/>
            <a:ext cx="5002346" cy="4083169"/>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600" dirty="0"/>
              <a:t>This project presents a detailed analysis of an online retail sales dataset to extract meaningful business insights and support business decision-making.</a:t>
            </a:r>
          </a:p>
          <a:p>
            <a:pPr marL="228600" indent="-228600">
              <a:spcAft>
                <a:spcPts val="800"/>
              </a:spcAft>
              <a:buFont typeface="Arial" panose="020B0604020202020204" pitchFamily="34" charset="0"/>
              <a:buChar char="•"/>
              <a:tabLst>
                <a:tab pos="4229100" algn="ctr"/>
              </a:tabLst>
            </a:pPr>
            <a:r>
              <a:rPr lang="en-US" sz="1600" dirty="0"/>
              <a:t>The main objective of the project is to identify sales trends, evaluate product performance, and analyze regional sales contribution.</a:t>
            </a:r>
          </a:p>
          <a:p>
            <a:pPr marL="228600" indent="-228600">
              <a:spcAft>
                <a:spcPts val="800"/>
              </a:spcAft>
              <a:buFont typeface="Arial" panose="020B0604020202020204" pitchFamily="34" charset="0"/>
              <a:buChar char="•"/>
              <a:tabLst>
                <a:tab pos="4229100" algn="ctr"/>
              </a:tabLst>
            </a:pPr>
            <a:r>
              <a:rPr lang="en-US" sz="1600" dirty="0"/>
              <a:t>The expected outcomes include a cleaned dataset, identification of key sales patterns, and an interactive dashboard showing sales performance and trends.</a:t>
            </a:r>
          </a:p>
          <a:p>
            <a:pPr marL="228600" indent="-228600">
              <a:spcAft>
                <a:spcPts val="800"/>
              </a:spcAft>
              <a:buFont typeface="Arial" panose="020B0604020202020204" pitchFamily="34" charset="0"/>
              <a:buChar char="•"/>
              <a:tabLst>
                <a:tab pos="4229100" algn="ctr"/>
              </a:tabLst>
            </a:pPr>
            <a:r>
              <a:rPr lang="en-US" sz="1600" dirty="0"/>
              <a:t>A key highlight of this project is the integration of Excel and Power BI along with AI tools to transform raw data into clear, visual, and actionable insights </a:t>
            </a:r>
          </a:p>
          <a:p>
            <a:pPr marL="228600" indent="-228600">
              <a:spcAft>
                <a:spcPts val="800"/>
              </a:spcAft>
              <a:buFont typeface="Arial" panose="020B0604020202020204" pitchFamily="34" charset="0"/>
              <a:buChar char="•"/>
              <a:tabLst>
                <a:tab pos="4229100" algn="ctr"/>
              </a:tabLst>
            </a:pPr>
            <a:endParaRPr lang="en-US" sz="1600" dirty="0"/>
          </a:p>
          <a:p>
            <a:pPr marL="228600" indent="-228600">
              <a:spcAft>
                <a:spcPts val="800"/>
              </a:spcAft>
              <a:buFont typeface="Arial" panose="020B0604020202020204" pitchFamily="34" charset="0"/>
              <a:buChar char="•"/>
              <a:tabLst>
                <a:tab pos="4229100" algn="ctr"/>
              </a:tabLst>
            </a:pPr>
            <a:endParaRPr lang="en-US" sz="1800" dirty="0">
              <a:latin typeface="Lato" panose="020F0502020204030203" pitchFamily="34" charset="0"/>
              <a:ea typeface="+mn-lt"/>
              <a:cs typeface="Arial" panose="020B0604020202020204" pitchFamily="34"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25240" y="1082801"/>
            <a:ext cx="4762910" cy="3354765"/>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600" dirty="0"/>
              <a:t>Retail businesses generate large volumes of raw transactional data which is difficult to interpret and analyze.</a:t>
            </a:r>
          </a:p>
          <a:p>
            <a:pPr marL="228600" indent="-228600">
              <a:spcAft>
                <a:spcPts val="800"/>
              </a:spcAft>
              <a:buFont typeface="Arial" panose="020B0604020202020204" pitchFamily="34" charset="0"/>
              <a:buChar char="•"/>
              <a:tabLst>
                <a:tab pos="4229100" algn="ctr"/>
              </a:tabLst>
            </a:pPr>
            <a:r>
              <a:rPr lang="en-US" sz="1600" dirty="0"/>
              <a:t>This problem is significant because without proper analysis, businesses cannot identify sales trends, product demand, or regional performance.</a:t>
            </a:r>
          </a:p>
          <a:p>
            <a:pPr marL="228600" indent="-228600">
              <a:spcAft>
                <a:spcPts val="800"/>
              </a:spcAft>
              <a:buFont typeface="Arial" panose="020B0604020202020204" pitchFamily="34" charset="0"/>
              <a:buChar char="•"/>
              <a:tabLst>
                <a:tab pos="4229100" algn="ctr"/>
              </a:tabLst>
            </a:pPr>
            <a:r>
              <a:rPr lang="en-US" sz="1600" dirty="0"/>
              <a:t>Retail companies and business decision-makers are directly affected as they rely on data for planning and strategy.</a:t>
            </a:r>
          </a:p>
          <a:p>
            <a:pPr marL="228600" indent="-228600">
              <a:spcAft>
                <a:spcPts val="800"/>
              </a:spcAft>
              <a:buFont typeface="Arial" panose="020B0604020202020204" pitchFamily="34" charset="0"/>
              <a:buChar char="•"/>
              <a:tabLst>
                <a:tab pos="4229100" algn="ctr"/>
              </a:tabLst>
            </a:pPr>
            <a:r>
              <a:rPr lang="en-US" sz="1600" dirty="0"/>
              <a:t>Existing tools like Excel are often underutilized due to lack of analytical knowledge and structured approach.</a:t>
            </a:r>
            <a:endParaRPr lang="en-US" sz="1600" dirty="0">
              <a:latin typeface="Lato" panose="020F0502020204030203" pitchFamily="34" charset="0"/>
              <a:ea typeface="+mn-lt"/>
              <a:cs typeface="Arial" panose="020B0604020202020204" pitchFamily="3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416154" cy="3474720"/>
          </a:xfrm>
          <a:prstGeom prst="rect">
            <a:avLst/>
          </a:prstGeom>
          <a:noFill/>
          <a:ln/>
        </p:spPr>
        <p:txBody>
          <a:bodyPr wrap="square" rtlCol="0" anchor="t"/>
          <a:lstStyle/>
          <a:p>
            <a:r>
              <a:rPr lang="en-US" sz="1600" dirty="0"/>
              <a:t>The proposed solution involves a structured data analytics approach to transform raw retail data into meaningful insights. The dataset is first cleaned using Microsoft Excel by removing duplicates, handling missing values, and correcting formatting issues. After preprocessing, the data is analyzed using pivot tables and Excel functions to identify trends in sales, product performance, and regional contribution. The cleaned dataset is then imported into Power BI to create interactive visualizations and dashboards. AI tools such as ChatGPT are used to assist in documentation and insight generation. This approach provides a simple yet effective solution for improving business decision-making.</a:t>
            </a:r>
          </a:p>
          <a:p>
            <a:pPr marL="0" indent="0">
              <a:buNone/>
            </a:pPr>
            <a:endParaRPr lang="en-US"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r>
              <a:rPr lang="en-US" sz="1400" dirty="0"/>
              <a:t>The project uses an online retail dataset sourced from Kaggle in CSV format. It contains transaction details such as invoice number, stock code, product description, quantity, invoice date, unit price, customer ID, and country</a:t>
            </a:r>
          </a:p>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663824"/>
            <a:ext cx="4023360" cy="1188720"/>
          </a:xfrm>
          <a:prstGeom prst="rect">
            <a:avLst/>
          </a:prstGeom>
          <a:noFill/>
          <a:ln/>
        </p:spPr>
        <p:txBody>
          <a:bodyPr wrap="square" rtlCol="0" anchor="t"/>
          <a:lstStyle/>
          <a:p>
            <a:r>
              <a:rPr lang="en-US" sz="1400" dirty="0"/>
              <a:t>Data cleaning is performed using Microsoft Excel by removing duplicate records, handling missing values, and standardizing formats. Additional columns such as total transaction value, transaction type, etc. are created . The data was further analyzed through Power BI.</a:t>
            </a:r>
          </a:p>
          <a:p>
            <a:endParaRPr lang="en-US" sz="1200" dirty="0"/>
          </a:p>
          <a:p>
            <a:pPr marL="0" indent="0">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r>
              <a:rPr lang="en-US" sz="1400" dirty="0"/>
              <a:t>Microsoft Excel is used for data cleaning and analysis, while Power BI is used for visualization and dashboard creation. ChatGPT is integrated to assist in generating explanations, insights, and project documentation.</a:t>
            </a:r>
          </a:p>
          <a:p>
            <a:pPr marL="0" indent="0">
              <a:buNone/>
            </a:pP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r>
              <a:rPr lang="en-US" sz="1400" dirty="0"/>
              <a:t>The final output is an interactive Power BI dashboard that includes visualizations such as sales by region, top-selling products, sales trends over time, and price vs quantity relationship. It also includes slicers for dynamic filtering based on country and date.</a:t>
            </a:r>
          </a:p>
          <a:p>
            <a:pPr marL="0" indent="0">
              <a:buNone/>
            </a:pP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1847230"/>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06908" y="3629000"/>
            <a:ext cx="2514600" cy="1371600"/>
          </a:xfrm>
          <a:prstGeom prst="rect">
            <a:avLst/>
          </a:prstGeom>
          <a:noFill/>
          <a:ln/>
        </p:spPr>
        <p:txBody>
          <a:bodyPr wrap="square" rtlCol="0" anchor="ctr"/>
          <a:lstStyle/>
          <a:p>
            <a:pPr algn="ctr"/>
            <a:r>
              <a:rPr lang="en-US" sz="1400" dirty="0"/>
              <a:t>This demo shows the regional sales performance, highlighting that the United Kingdom contributes the highest revenue among all countries.</a:t>
            </a:r>
          </a:p>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4116" y="1847230"/>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1276" y="3629000"/>
            <a:ext cx="2514600" cy="1371600"/>
          </a:xfrm>
          <a:prstGeom prst="rect">
            <a:avLst/>
          </a:prstGeom>
          <a:noFill/>
          <a:ln/>
        </p:spPr>
        <p:txBody>
          <a:bodyPr wrap="square" rtlCol="0" anchor="ctr"/>
          <a:lstStyle/>
          <a:p>
            <a:pPr algn="ctr"/>
            <a:r>
              <a:rPr lang="en-US" sz="1400" dirty="0"/>
              <a:t>This demo displays the top-selling products based on units sold, helping identify high-demand products and their contribution to overall sales</a:t>
            </a:r>
          </a:p>
          <a:p>
            <a:pPr marL="0" indent="0" algn="ctr">
              <a:buNone/>
            </a:pP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1851491"/>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55080" y="3656285"/>
            <a:ext cx="2514600" cy="1371600"/>
          </a:xfrm>
          <a:prstGeom prst="rect">
            <a:avLst/>
          </a:prstGeom>
          <a:noFill/>
          <a:ln/>
        </p:spPr>
        <p:txBody>
          <a:bodyPr wrap="square" rtlCol="0" anchor="ctr"/>
          <a:lstStyle/>
          <a:p>
            <a:pPr algn="ctr"/>
            <a:r>
              <a:rPr lang="en-US" sz="1400" dirty="0"/>
              <a:t>This demo presents the complete Power BI dashboard, including multiple visualizations such as sales </a:t>
            </a:r>
            <a:r>
              <a:rPr lang="en-US" sz="1400" dirty="0" err="1"/>
              <a:t>trends,price</a:t>
            </a:r>
            <a:r>
              <a:rPr lang="en-US" sz="1400" dirty="0"/>
              <a:t> vs quantity relationship for better business insights</a:t>
            </a:r>
          </a:p>
          <a:p>
            <a:pPr marL="0" indent="0" algn="ctr">
              <a:buNone/>
            </a:pPr>
            <a:endParaRPr lang="en-US" sz="1600"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6D1D3ACE-73DB-A349-591E-2B240F95060E}"/>
              </a:ext>
            </a:extLst>
          </p:cNvPr>
          <p:cNvPicPr>
            <a:picLocks noChangeAspect="1"/>
          </p:cNvPicPr>
          <p:nvPr/>
        </p:nvPicPr>
        <p:blipFill>
          <a:blip r:embed="rId4"/>
          <a:stretch>
            <a:fillRect/>
          </a:stretch>
        </p:blipFill>
        <p:spPr>
          <a:xfrm>
            <a:off x="687829" y="2258710"/>
            <a:ext cx="2085346" cy="1325894"/>
          </a:xfrm>
          <a:prstGeom prst="rect">
            <a:avLst/>
          </a:prstGeom>
        </p:spPr>
      </p:pic>
      <p:pic>
        <p:nvPicPr>
          <p:cNvPr id="3" name="Picture 2">
            <a:extLst>
              <a:ext uri="{FF2B5EF4-FFF2-40B4-BE49-F238E27FC236}">
                <a16:creationId xmlns:a16="http://schemas.microsoft.com/office/drawing/2014/main" id="{E28E48ED-D5E4-28D9-F455-DEDE5E8BCBC9}"/>
              </a:ext>
            </a:extLst>
          </p:cNvPr>
          <p:cNvPicPr>
            <a:picLocks noChangeAspect="1"/>
          </p:cNvPicPr>
          <p:nvPr/>
        </p:nvPicPr>
        <p:blipFill>
          <a:blip r:embed="rId5"/>
          <a:stretch>
            <a:fillRect/>
          </a:stretch>
        </p:blipFill>
        <p:spPr>
          <a:xfrm>
            <a:off x="3493008" y="2217458"/>
            <a:ext cx="2245826" cy="1411542"/>
          </a:xfrm>
          <a:prstGeom prst="rect">
            <a:avLst/>
          </a:prstGeom>
        </p:spPr>
      </p:pic>
      <p:pic>
        <p:nvPicPr>
          <p:cNvPr id="5" name="Picture 4">
            <a:extLst>
              <a:ext uri="{FF2B5EF4-FFF2-40B4-BE49-F238E27FC236}">
                <a16:creationId xmlns:a16="http://schemas.microsoft.com/office/drawing/2014/main" id="{BB04F8CE-4CF6-A75A-8EB6-1F6433F8E919}"/>
              </a:ext>
            </a:extLst>
          </p:cNvPr>
          <p:cNvPicPr>
            <a:picLocks noChangeAspect="1"/>
          </p:cNvPicPr>
          <p:nvPr/>
        </p:nvPicPr>
        <p:blipFill>
          <a:blip r:embed="rId6"/>
          <a:stretch>
            <a:fillRect/>
          </a:stretch>
        </p:blipFill>
        <p:spPr>
          <a:xfrm>
            <a:off x="6442922" y="2258710"/>
            <a:ext cx="2342147" cy="1322153"/>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dirty="0"/>
          </a:p>
        </p:txBody>
      </p:sp>
      <p:sp>
        <p:nvSpPr>
          <p:cNvPr id="12" name="Text 10"/>
          <p:cNvSpPr/>
          <p:nvPr/>
        </p:nvSpPr>
        <p:spPr>
          <a:xfrm>
            <a:off x="1351626" y="841248"/>
            <a:ext cx="4992624" cy="219456"/>
          </a:xfrm>
          <a:prstGeom prst="rect">
            <a:avLst/>
          </a:prstGeom>
          <a:noFill/>
          <a:ln/>
        </p:spPr>
        <p:txBody>
          <a:bodyPr wrap="square" rtlCol="0" anchor="ctr"/>
          <a:lstStyle/>
          <a:p>
            <a:r>
              <a:rPr lang="en-US" sz="900" dirty="0">
                <a:hlinkClick r:id="rId4"/>
              </a:rPr>
              <a:t>https://drive.google.com/file/d/1MMOPuVDT3CBnkT3lGQKKGFmFTHUMPEep/view?usp=sharing</a:t>
            </a:r>
            <a:endParaRPr lang="en-US" sz="900" dirty="0"/>
          </a:p>
          <a:p>
            <a:pPr marL="0" indent="0">
              <a:buNone/>
            </a:pP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a:ln/>
        </p:spPr>
        <p:txBody>
          <a:bodyPr wrap="square" rtlCol="0" anchor="t"/>
          <a:lstStyle/>
          <a:p>
            <a:r>
              <a:rPr lang="en-US" dirty="0"/>
              <a:t>The project successfully analyzed the online retail dataset and generated meaningful business insights. Key findings include the identification of top-performing products, regional sales contribution, and sales trends over time. The integration of Excel for data cleaning and Power BI for visualization helped transform raw data into a clear and structured dashboard. The objectives of the project were achieved, and the results demonstrate the importance of data analytics in supporting effective business decision-making.</a:t>
            </a:r>
          </a:p>
          <a:p>
            <a:pPr marL="0" indent="0">
              <a:buNone/>
            </a:pP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r>
              <a:rPr lang="en-US" dirty="0"/>
              <a:t>The project can be further enhanced by integrating advanced tools such as machine learning models for predicting future sales trends and customer behavior. Real-time data integration can be added to improve the accuracy and timeliness of insights. Additional features such as customer segmentation and profit analysis can be included for deeper business understanding. The dashboard can also be expanded with more interactive features and larger datasets to improve scalability and usability.</a:t>
            </a:r>
          </a:p>
          <a:p>
            <a:pPr marL="0" indent="0">
              <a:buNone/>
            </a:pP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TotalTime>
  <Words>833</Words>
  <Application>Microsoft Office PowerPoint</Application>
  <PresentationFormat>On-screen Show (16:9)</PresentationFormat>
  <Paragraphs>69</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Rakshita Srivastava</cp:lastModifiedBy>
  <cp:revision>38</cp:revision>
  <dcterms:created xsi:type="dcterms:W3CDTF">2026-02-18T09:17:23Z</dcterms:created>
  <dcterms:modified xsi:type="dcterms:W3CDTF">2026-04-19T14:45:02Z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