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80"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MMOPuVDT3CBnkT3lGQKKGFmFTHUMPEep/view?usp=sharing"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p:spPr>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sp>
      <p:sp>
        <p:nvSpPr>
          <p:cNvPr id="4" name="Text 2"/>
          <p:cNvSpPr/>
          <p:nvPr/>
        </p:nvSpPr>
        <p:spPr>
          <a:xfrm>
            <a:off x="365760" y="137160"/>
            <a:ext cx="4480560" cy="411480"/>
          </a:xfrm>
          <a:prstGeom prst="rect">
            <a:avLst/>
          </a:prstGeom>
          <a:noFill/>
          <a:ln/>
        </p:spPr>
        <p:txBody>
          <a:bodyPr wrap="square" rtlCol="0" anchor="ctr"/>
          <a:lstStyle/>
          <a:p>
            <a:pPr marL="0" indent="0">
              <a:buNone/>
            </a:pPr>
            <a:r>
              <a:rPr lang="en-US" sz="950">
                <a:solidFill>
                  <a:srgbClr val="607D8B"/>
                </a:solidFill>
                <a:latin typeface="Calibri" pitchFamily="34" charset="0"/>
                <a:ea typeface="Calibri" pitchFamily="34" charset="-122"/>
                <a:cs typeface="Calibri" pitchFamily="34" charset="-120"/>
              </a:rPr>
              <a:t> LinkedIn  </a:t>
            </a:r>
            <a:r>
              <a:rPr lang="en-US" sz="950" err="1">
                <a:solidFill>
                  <a:srgbClr val="607D8B"/>
                </a:solidFill>
                <a:latin typeface="Calibri" pitchFamily="34" charset="0"/>
                <a:ea typeface="Calibri" pitchFamily="34" charset="-122"/>
                <a:cs typeface="Calibri" pitchFamily="34" charset="-120"/>
              </a:rPr>
              <a:t>Edunet</a:t>
            </a:r>
            <a:r>
              <a:rPr lang="en-US" sz="950">
                <a:solidFill>
                  <a:srgbClr val="607D8B"/>
                </a:solidFill>
                <a:latin typeface="Calibri" pitchFamily="34" charset="0"/>
                <a:ea typeface="Calibri" pitchFamily="34" charset="-122"/>
                <a:cs typeface="Calibri" pitchFamily="34" charset="-120"/>
              </a:rPr>
              <a:t>   </a:t>
            </a:r>
            <a:endParaRPr lang="en-US" sz="950"/>
          </a:p>
        </p:txBody>
      </p:sp>
      <p:sp>
        <p:nvSpPr>
          <p:cNvPr id="5" name="Shape 3"/>
          <p:cNvSpPr/>
          <p:nvPr/>
        </p:nvSpPr>
        <p:spPr>
          <a:xfrm>
            <a:off x="5949499" y="5899"/>
            <a:ext cx="3200400" cy="5143500"/>
          </a:xfrm>
          <a:prstGeom prst="rect">
            <a:avLst/>
          </a:prstGeom>
          <a:solidFill>
            <a:srgbClr val="1B3A8A"/>
          </a:solidFill>
          <a:ln/>
        </p:spPr>
      </p:sp>
      <p:sp>
        <p:nvSpPr>
          <p:cNvPr id="6" name="Shape 4"/>
          <p:cNvSpPr/>
          <p:nvPr/>
        </p:nvSpPr>
        <p:spPr>
          <a:xfrm>
            <a:off x="5486400" y="0"/>
            <a:ext cx="502920" cy="5143500"/>
          </a:xfrm>
          <a:prstGeom prst="rect">
            <a:avLst/>
          </a:prstGeom>
          <a:solidFill>
            <a:srgbClr val="1565C0"/>
          </a:solidFill>
          <a:ln/>
        </p:spPr>
      </p:sp>
      <p:sp>
        <p:nvSpPr>
          <p:cNvPr id="9" name="Shape 7"/>
          <p:cNvSpPr/>
          <p:nvPr/>
        </p:nvSpPr>
        <p:spPr>
          <a:xfrm>
            <a:off x="6126480" y="3108960"/>
            <a:ext cx="2834640" cy="109728"/>
          </a:xfrm>
          <a:prstGeom prst="rect">
            <a:avLst/>
          </a:prstGeom>
          <a:solidFill>
            <a:srgbClr val="4FC3F7"/>
          </a:solidFill>
          <a:ln/>
        </p:spPr>
      </p:sp>
      <p:sp>
        <p:nvSpPr>
          <p:cNvPr id="10" name="Shape 8"/>
          <p:cNvSpPr/>
          <p:nvPr/>
        </p:nvSpPr>
        <p:spPr>
          <a:xfrm>
            <a:off x="6400800" y="3291840"/>
            <a:ext cx="2468880" cy="109728"/>
          </a:xfrm>
          <a:prstGeom prst="rect">
            <a:avLst/>
          </a:prstGeom>
          <a:solidFill>
            <a:srgbClr val="4FC3F7"/>
          </a:solidFill>
          <a:ln/>
        </p:spPr>
      </p:sp>
      <p:sp>
        <p:nvSpPr>
          <p:cNvPr id="11" name="Shape 9"/>
          <p:cNvSpPr/>
          <p:nvPr/>
        </p:nvSpPr>
        <p:spPr>
          <a:xfrm>
            <a:off x="6675120" y="3474720"/>
            <a:ext cx="2103120" cy="109728"/>
          </a:xfrm>
          <a:prstGeom prst="rect">
            <a:avLst/>
          </a:prstGeom>
          <a:solidFill>
            <a:srgbClr val="4FC3F7"/>
          </a:solidFill>
          <a:ln/>
        </p:spPr>
      </p:sp>
      <p:sp>
        <p:nvSpPr>
          <p:cNvPr id="12" name="Text 10"/>
          <p:cNvSpPr/>
          <p:nvPr/>
        </p:nvSpPr>
        <p:spPr>
          <a:xfrm>
            <a:off x="320040" y="960120"/>
            <a:ext cx="5324488" cy="1527048"/>
          </a:xfrm>
          <a:prstGeom prst="rect">
            <a:avLst/>
          </a:prstGeom>
          <a:noFill/>
          <a:ln/>
        </p:spPr>
        <p:txBody>
          <a:bodyPr wrap="square" rtlCol="0" anchor="ctr"/>
          <a:lstStyle/>
          <a:p>
            <a:r>
              <a:rPr lang="en-US" sz="3800" dirty="0">
                <a:ln w="0"/>
                <a:solidFill>
                  <a:schemeClr val="accent1"/>
                </a:solidFill>
                <a:effectLst>
                  <a:outerShdw blurRad="38100" dist="25400" dir="5400000" algn="ctr" rotWithShape="0">
                    <a:srgbClr val="6E747A">
                      <a:alpha val="43000"/>
                    </a:srgbClr>
                  </a:outerShdw>
                </a:effectLst>
              </a:rPr>
              <a:t>Retail Sale Performance Analysis For Business Decision Making </a:t>
            </a:r>
          </a:p>
        </p:txBody>
      </p:sp>
      <p:sp>
        <p:nvSpPr>
          <p:cNvPr id="13" name="Shape 11"/>
          <p:cNvSpPr/>
          <p:nvPr/>
        </p:nvSpPr>
        <p:spPr>
          <a:xfrm>
            <a:off x="320040" y="2578608"/>
            <a:ext cx="3840480" cy="384048"/>
          </a:xfrm>
          <a:prstGeom prst="rect">
            <a:avLst/>
          </a:prstGeom>
          <a:solidFill>
            <a:srgbClr val="1565C0"/>
          </a:solidFill>
          <a:ln/>
        </p:spPr>
      </p:sp>
      <p:sp>
        <p:nvSpPr>
          <p:cNvPr id="14" name="Shape 12"/>
          <p:cNvSpPr/>
          <p:nvPr/>
        </p:nvSpPr>
        <p:spPr>
          <a:xfrm>
            <a:off x="4160520" y="2578608"/>
            <a:ext cx="274320" cy="384048"/>
          </a:xfrm>
          <a:prstGeom prst="rect">
            <a:avLst/>
          </a:prstGeom>
          <a:solidFill>
            <a:srgbClr val="1B3A8A"/>
          </a:solidFill>
          <a:ln/>
        </p:spPr>
      </p:sp>
      <p:sp>
        <p:nvSpPr>
          <p:cNvPr id="15" name="Text 13"/>
          <p:cNvSpPr/>
          <p:nvPr/>
        </p:nvSpPr>
        <p:spPr>
          <a:xfrm>
            <a:off x="320040" y="2578608"/>
            <a:ext cx="3840480" cy="384048"/>
          </a:xfrm>
          <a:prstGeom prst="rect">
            <a:avLst/>
          </a:prstGeom>
          <a:noFill/>
          <a:ln/>
        </p:spPr>
        <p:txBody>
          <a:bodyPr wrap="square"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P R E S E N T A T I O N   2 0 2 6</a:t>
            </a:r>
            <a:endParaRPr lang="en-US" sz="130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sp>
      <p:sp>
        <p:nvSpPr>
          <p:cNvPr id="17" name="Text 15"/>
          <p:cNvSpPr/>
          <p:nvPr/>
        </p:nvSpPr>
        <p:spPr>
          <a:xfrm>
            <a:off x="3200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18" name="Text 16"/>
          <p:cNvSpPr/>
          <p:nvPr/>
        </p:nvSpPr>
        <p:spPr>
          <a:xfrm>
            <a:off x="7772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Name</a:t>
            </a:r>
            <a:endParaRPr lang="en-US" sz="900"/>
          </a:p>
        </p:txBody>
      </p:sp>
      <p:sp>
        <p:nvSpPr>
          <p:cNvPr id="19" name="Text 17"/>
          <p:cNvSpPr/>
          <p:nvPr/>
        </p:nvSpPr>
        <p:spPr>
          <a:xfrm>
            <a:off x="7772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Rakshita Srivastava</a:t>
            </a:r>
            <a:endParaRPr lang="en-US" sz="1100" dirty="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sp>
      <p:sp>
        <p:nvSpPr>
          <p:cNvPr id="21" name="Text 19"/>
          <p:cNvSpPr/>
          <p:nvPr/>
        </p:nvSpPr>
        <p:spPr>
          <a:xfrm>
            <a:off x="28346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2" name="Text 20"/>
          <p:cNvSpPr/>
          <p:nvPr/>
        </p:nvSpPr>
        <p:spPr>
          <a:xfrm>
            <a:off x="32918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Email</a:t>
            </a:r>
            <a:endParaRPr lang="en-US" sz="900"/>
          </a:p>
        </p:txBody>
      </p:sp>
      <p:sp>
        <p:nvSpPr>
          <p:cNvPr id="23" name="Text 21"/>
          <p:cNvSpPr/>
          <p:nvPr/>
        </p:nvSpPr>
        <p:spPr>
          <a:xfrm>
            <a:off x="3291839" y="3794760"/>
            <a:ext cx="2352689"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rakshitasrivastava450@gmail.com</a:t>
            </a:r>
            <a:endParaRPr lang="en-US" sz="1100" dirty="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sp>
      <p:sp>
        <p:nvSpPr>
          <p:cNvPr id="25" name="Text 23"/>
          <p:cNvSpPr/>
          <p:nvPr/>
        </p:nvSpPr>
        <p:spPr>
          <a:xfrm>
            <a:off x="277722" y="4393185"/>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782333" y="4478866"/>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Ms. Umamaheshwari</a:t>
            </a:r>
            <a:endParaRPr lang="en-US" sz="1100" dirty="0"/>
          </a:p>
        </p:txBody>
      </p:sp>
      <p:sp>
        <p:nvSpPr>
          <p:cNvPr id="28" name="Shape 26"/>
          <p:cNvSpPr/>
          <p:nvPr/>
        </p:nvSpPr>
        <p:spPr>
          <a:xfrm>
            <a:off x="0" y="4983480"/>
            <a:ext cx="9144000" cy="160020"/>
          </a:xfrm>
          <a:prstGeom prst="rect">
            <a:avLst/>
          </a:prstGeom>
          <a:solidFill>
            <a:srgbClr val="1B3A8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OUTLINE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Abstract of the Project</a:t>
            </a:r>
            <a:endParaRPr lang="en-US" sz="130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Problem Statement</a:t>
            </a:r>
            <a:endParaRPr lang="en-US" sz="130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Proposed Solution</a:t>
            </a:r>
            <a:endParaRPr lang="en-US" sz="130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System Architecture</a:t>
            </a:r>
            <a:endParaRPr lang="en-US" sz="130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Live Demo of the Project</a:t>
            </a:r>
            <a:endParaRPr lang="en-US" sz="130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Embedded Video of Project</a:t>
            </a:r>
            <a:endParaRPr lang="en-US" sz="130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Conclusion</a:t>
            </a:r>
            <a:endParaRPr lang="en-US" sz="130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Future Scope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Abstract</a:t>
            </a:r>
            <a:endParaRPr lang="en-US" sz="2200"/>
          </a:p>
        </p:txBody>
      </p:sp>
      <p:sp>
        <p:nvSpPr>
          <p:cNvPr id="5" name="Shape 3"/>
          <p:cNvSpPr/>
          <p:nvPr/>
        </p:nvSpPr>
        <p:spPr>
          <a:xfrm>
            <a:off x="0" y="4983480"/>
            <a:ext cx="9144000" cy="160020"/>
          </a:xfrm>
          <a:prstGeom prst="rect">
            <a:avLst/>
          </a:prstGeom>
          <a:solidFill>
            <a:srgbClr val="1B3A8A"/>
          </a:solidFill>
          <a:ln/>
        </p:spPr>
      </p:sp>
      <p:sp>
        <p:nvSpPr>
          <p:cNvPr id="19" name="Text 12">
            <a:extLst>
              <a:ext uri="{FF2B5EF4-FFF2-40B4-BE49-F238E27FC236}">
                <a16:creationId xmlns:a16="http://schemas.microsoft.com/office/drawing/2014/main" id="{7BA53C9D-AAA2-05C7-14B1-F7DA481CA53F}"/>
              </a:ext>
            </a:extLst>
          </p:cNvPr>
          <p:cNvSpPr/>
          <p:nvPr/>
        </p:nvSpPr>
        <p:spPr>
          <a:xfrm>
            <a:off x="457199" y="1261872"/>
            <a:ext cx="7229260"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This project presents a detailed analysis of an online retail sales dataset to extract meaningful business insights and support business decision-making</a:t>
            </a:r>
            <a:endParaRPr lang="en-US" sz="1300" dirty="0"/>
          </a:p>
        </p:txBody>
      </p:sp>
      <p:sp>
        <p:nvSpPr>
          <p:cNvPr id="20" name="Text 13">
            <a:extLst>
              <a:ext uri="{FF2B5EF4-FFF2-40B4-BE49-F238E27FC236}">
                <a16:creationId xmlns:a16="http://schemas.microsoft.com/office/drawing/2014/main" id="{FBB90A13-7196-D2E6-20B4-845F03152899}"/>
              </a:ext>
            </a:extLst>
          </p:cNvPr>
          <p:cNvSpPr/>
          <p:nvPr/>
        </p:nvSpPr>
        <p:spPr>
          <a:xfrm>
            <a:off x="457199" y="1664208"/>
            <a:ext cx="7229259" cy="525780"/>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The main objective of the project is to identify sales trends, evaluate product performance, and analyze regional sales contribution</a:t>
            </a:r>
            <a:endParaRPr lang="en-US" sz="1300" dirty="0"/>
          </a:p>
        </p:txBody>
      </p:sp>
      <p:sp>
        <p:nvSpPr>
          <p:cNvPr id="21" name="Text 14">
            <a:extLst>
              <a:ext uri="{FF2B5EF4-FFF2-40B4-BE49-F238E27FC236}">
                <a16:creationId xmlns:a16="http://schemas.microsoft.com/office/drawing/2014/main" id="{4BCD0967-8763-EBD0-918B-8930803EE40C}"/>
              </a:ext>
            </a:extLst>
          </p:cNvPr>
          <p:cNvSpPr/>
          <p:nvPr/>
        </p:nvSpPr>
        <p:spPr>
          <a:xfrm>
            <a:off x="457198" y="2093976"/>
            <a:ext cx="7229258" cy="525780"/>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The tools and technologies used include Microsoft Excel for data cleaning and preprocessing, Power BI for data visualization and dashboard creation, and ChatGPT for documentation support</a:t>
            </a:r>
            <a:endParaRPr lang="en-US" sz="1300" dirty="0"/>
          </a:p>
        </p:txBody>
      </p:sp>
      <p:sp>
        <p:nvSpPr>
          <p:cNvPr id="22" name="Text 15">
            <a:extLst>
              <a:ext uri="{FF2B5EF4-FFF2-40B4-BE49-F238E27FC236}">
                <a16:creationId xmlns:a16="http://schemas.microsoft.com/office/drawing/2014/main" id="{A079AF38-4D82-61EA-A6DE-714C1225E65B}"/>
              </a:ext>
            </a:extLst>
          </p:cNvPr>
          <p:cNvSpPr/>
          <p:nvPr/>
        </p:nvSpPr>
        <p:spPr>
          <a:xfrm>
            <a:off x="457200" y="2557587"/>
            <a:ext cx="7315200" cy="57696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The expected outcomes include a cleaned dataset, identification of key sales patterns, and an interactive dashboard showing sales performance and trends</a:t>
            </a:r>
            <a:endParaRPr lang="en-US" sz="1300" dirty="0"/>
          </a:p>
        </p:txBody>
      </p:sp>
      <p:sp>
        <p:nvSpPr>
          <p:cNvPr id="23" name="Text 16">
            <a:extLst>
              <a:ext uri="{FF2B5EF4-FFF2-40B4-BE49-F238E27FC236}">
                <a16:creationId xmlns:a16="http://schemas.microsoft.com/office/drawing/2014/main" id="{E42052B7-1005-7C95-89EC-CBD8D61EEAEE}"/>
              </a:ext>
            </a:extLst>
          </p:cNvPr>
          <p:cNvSpPr/>
          <p:nvPr/>
        </p:nvSpPr>
        <p:spPr>
          <a:xfrm>
            <a:off x="457197" y="3083367"/>
            <a:ext cx="7229257" cy="603504"/>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A key highlight of this project is the integration of Excel and Power BI along with AI tools to transform raw data into clear, visual, and actionable insights </a:t>
            </a:r>
          </a:p>
          <a:p>
            <a:pPr marL="0" indent="0">
              <a:buNone/>
            </a:pP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Problem Statement</a:t>
            </a:r>
            <a:endParaRPr lang="en-US" sz="220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199" y="1234440"/>
            <a:ext cx="6679245"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Retail businesses generate large volumes of raw transactional data which is difficult to interpret and analyze</a:t>
            </a:r>
            <a:endParaRPr lang="en-US" sz="1300" dirty="0"/>
          </a:p>
        </p:txBody>
      </p:sp>
      <p:sp>
        <p:nvSpPr>
          <p:cNvPr id="15" name="Text 13"/>
          <p:cNvSpPr/>
          <p:nvPr/>
        </p:nvSpPr>
        <p:spPr>
          <a:xfrm>
            <a:off x="457200" y="1664208"/>
            <a:ext cx="6679244"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This problem is significant because without proper analysis, businesses cannot identify sales trends, product demand, or regional performance</a:t>
            </a:r>
            <a:endParaRPr lang="en-US" sz="1300" dirty="0"/>
          </a:p>
        </p:txBody>
      </p:sp>
      <p:sp>
        <p:nvSpPr>
          <p:cNvPr id="16" name="Text 14"/>
          <p:cNvSpPr/>
          <p:nvPr/>
        </p:nvSpPr>
        <p:spPr>
          <a:xfrm>
            <a:off x="457200" y="2093976"/>
            <a:ext cx="6679244"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Retail companies and business decision-makers are directly affected as they rely on data for planning and strategy</a:t>
            </a:r>
            <a:endParaRPr lang="en-US" sz="1300" dirty="0"/>
          </a:p>
        </p:txBody>
      </p:sp>
      <p:sp>
        <p:nvSpPr>
          <p:cNvPr id="17" name="Text 15"/>
          <p:cNvSpPr/>
          <p:nvPr/>
        </p:nvSpPr>
        <p:spPr>
          <a:xfrm>
            <a:off x="457200" y="2523744"/>
            <a:ext cx="6679244"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a:t>
            </a:r>
            <a:r>
              <a:rPr lang="en-US" sz="1400" dirty="0"/>
              <a:t>Existing tools like Excel are often underutilized due to lack of analytical knowledge and structured approach</a:t>
            </a:r>
            <a:endParaRPr lang="en-US" sz="1300" dirty="0"/>
          </a:p>
        </p:txBody>
      </p:sp>
      <p:sp>
        <p:nvSpPr>
          <p:cNvPr id="18" name="Text 16"/>
          <p:cNvSpPr/>
          <p:nvPr/>
        </p:nvSpPr>
        <p:spPr>
          <a:xfrm>
            <a:off x="457198" y="3067332"/>
            <a:ext cx="6679244" cy="40233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a:t>
            </a:r>
            <a:r>
              <a:rPr lang="en-US" sz="1400" dirty="0"/>
              <a:t>the scope of this project is limited to analyzing retail sales data using Excel and Power BI to generate meaningful insights </a:t>
            </a:r>
          </a:p>
          <a:p>
            <a:pPr marL="0" indent="0">
              <a:buNone/>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Proposed Solution</a:t>
            </a:r>
            <a:endParaRPr lang="en-US" sz="220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34440"/>
            <a:ext cx="4114800" cy="3474720"/>
          </a:xfrm>
          <a:prstGeom prst="rect">
            <a:avLst/>
          </a:prstGeom>
          <a:noFill/>
          <a:ln/>
        </p:spPr>
        <p:txBody>
          <a:bodyPr wrap="square" rtlCol="0" anchor="t"/>
          <a:lstStyle/>
          <a:p>
            <a:r>
              <a:rPr lang="en-US" sz="1400" dirty="0"/>
              <a:t>The proposed solution involves a structured data analytics approach to transform raw retail data into meaningful insights. The dataset is first cleaned using Microsoft Excel by removing duplicates, handling missing values, and correcting formatting issues. After preprocessing, the data is analyzed using pivot tables and Excel functions to identify trends in sales, product performance, and regional contribution. The cleaned dataset is then imported into Power BI to create interactive visualizations and dashboards. AI tools such as ChatGPT are used to assist in documentation and insight generation. This approach provides a simple yet effective solution for improving business decision-making.</a:t>
            </a:r>
          </a:p>
          <a:p>
            <a:pPr marL="0" indent="0">
              <a:buNone/>
            </a:pPr>
            <a:endParaRPr lang="en-US" sz="1300" dirty="0"/>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System Architecture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274320" y="1097280"/>
            <a:ext cx="4114800" cy="384048"/>
          </a:xfrm>
          <a:prstGeom prst="rect">
            <a:avLst/>
          </a:prstGeom>
          <a:solidFill>
            <a:srgbClr val="1565C0"/>
          </a:solidFill>
          <a:ln/>
        </p:spPr>
      </p:sp>
      <p:sp>
        <p:nvSpPr>
          <p:cNvPr id="7" name="Shape 5"/>
          <p:cNvSpPr/>
          <p:nvPr/>
        </p:nvSpPr>
        <p:spPr>
          <a:xfrm>
            <a:off x="4206240" y="1097280"/>
            <a:ext cx="320040" cy="384048"/>
          </a:xfrm>
          <a:prstGeom prst="rect">
            <a:avLst/>
          </a:prstGeom>
          <a:solidFill>
            <a:srgbClr val="1B3A8A"/>
          </a:solidFill>
          <a:ln/>
        </p:spPr>
      </p:sp>
      <p:sp>
        <p:nvSpPr>
          <p:cNvPr id="8" name="Text 6"/>
          <p:cNvSpPr/>
          <p:nvPr/>
        </p:nvSpPr>
        <p:spPr>
          <a:xfrm>
            <a:off x="36576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Data Input / Source</a:t>
            </a:r>
            <a:endParaRPr lang="en-US" sz="1200"/>
          </a:p>
        </p:txBody>
      </p:sp>
      <p:sp>
        <p:nvSpPr>
          <p:cNvPr id="9" name="Text 7"/>
          <p:cNvSpPr/>
          <p:nvPr/>
        </p:nvSpPr>
        <p:spPr>
          <a:xfrm>
            <a:off x="365760" y="1554480"/>
            <a:ext cx="4023360" cy="1188720"/>
          </a:xfrm>
          <a:prstGeom prst="rect">
            <a:avLst/>
          </a:prstGeom>
          <a:noFill/>
          <a:ln/>
        </p:spPr>
        <p:txBody>
          <a:bodyPr wrap="square" rtlCol="0" anchor="t"/>
          <a:lstStyle/>
          <a:p>
            <a:r>
              <a:rPr lang="en-US" sz="1200" dirty="0"/>
              <a:t>The project uses an online retail dataset sourced from Kaggle in CSV format. It contains transaction details such as invoice number, stock code, product description, quantity, invoice date, unit price, customer ID, and country</a:t>
            </a:r>
            <a:endParaRPr lang="en-US" sz="1150" dirty="0"/>
          </a:p>
        </p:txBody>
      </p:sp>
      <p:sp>
        <p:nvSpPr>
          <p:cNvPr id="10" name="Shape 8"/>
          <p:cNvSpPr/>
          <p:nvPr/>
        </p:nvSpPr>
        <p:spPr>
          <a:xfrm>
            <a:off x="4709160" y="1097280"/>
            <a:ext cx="4114800" cy="384048"/>
          </a:xfrm>
          <a:prstGeom prst="rect">
            <a:avLst/>
          </a:prstGeom>
          <a:solidFill>
            <a:srgbClr val="1565C0"/>
          </a:solidFill>
          <a:ln/>
        </p:spPr>
      </p:sp>
      <p:sp>
        <p:nvSpPr>
          <p:cNvPr id="11" name="Shape 9"/>
          <p:cNvSpPr/>
          <p:nvPr/>
        </p:nvSpPr>
        <p:spPr>
          <a:xfrm>
            <a:off x="8641080" y="1097280"/>
            <a:ext cx="320040" cy="384048"/>
          </a:xfrm>
          <a:prstGeom prst="rect">
            <a:avLst/>
          </a:prstGeom>
          <a:solidFill>
            <a:srgbClr val="1B3A8A"/>
          </a:solidFill>
          <a:ln/>
        </p:spPr>
      </p:sp>
      <p:sp>
        <p:nvSpPr>
          <p:cNvPr id="12" name="Text 10"/>
          <p:cNvSpPr/>
          <p:nvPr/>
        </p:nvSpPr>
        <p:spPr>
          <a:xfrm>
            <a:off x="480060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Processing / Analysis</a:t>
            </a:r>
            <a:endParaRPr lang="en-US" sz="1200"/>
          </a:p>
        </p:txBody>
      </p:sp>
      <p:sp>
        <p:nvSpPr>
          <p:cNvPr id="13" name="Text 11"/>
          <p:cNvSpPr/>
          <p:nvPr/>
        </p:nvSpPr>
        <p:spPr>
          <a:xfrm>
            <a:off x="4800600" y="1554480"/>
            <a:ext cx="4023360" cy="1188720"/>
          </a:xfrm>
          <a:prstGeom prst="rect">
            <a:avLst/>
          </a:prstGeom>
          <a:noFill/>
          <a:ln/>
        </p:spPr>
        <p:txBody>
          <a:bodyPr wrap="square" rtlCol="0" anchor="t"/>
          <a:lstStyle/>
          <a:p>
            <a:r>
              <a:rPr lang="en-US" sz="1200" dirty="0"/>
              <a:t>Data cleaning is performed using Microsoft Excel by removing duplicate records, handling missing values, and standardizing formats. Additional columns such as total transaction value, transaction type, and date fields are created. The cleaned data is then analyzed using pivot tables and Excel functions to identify key trends and patterns.</a:t>
            </a:r>
          </a:p>
          <a:p>
            <a:pPr marL="0" indent="0">
              <a:buNone/>
            </a:pPr>
            <a:endParaRPr lang="en-US" sz="1150" dirty="0"/>
          </a:p>
        </p:txBody>
      </p:sp>
      <p:sp>
        <p:nvSpPr>
          <p:cNvPr id="14" name="Shape 12"/>
          <p:cNvSpPr/>
          <p:nvPr/>
        </p:nvSpPr>
        <p:spPr>
          <a:xfrm>
            <a:off x="274320" y="2926080"/>
            <a:ext cx="4114800" cy="384048"/>
          </a:xfrm>
          <a:prstGeom prst="rect">
            <a:avLst/>
          </a:prstGeom>
          <a:solidFill>
            <a:srgbClr val="1565C0"/>
          </a:solidFill>
          <a:ln/>
        </p:spPr>
      </p:sp>
      <p:sp>
        <p:nvSpPr>
          <p:cNvPr id="15" name="Shape 13"/>
          <p:cNvSpPr/>
          <p:nvPr/>
        </p:nvSpPr>
        <p:spPr>
          <a:xfrm>
            <a:off x="4206240" y="2926080"/>
            <a:ext cx="320040" cy="384048"/>
          </a:xfrm>
          <a:prstGeom prst="rect">
            <a:avLst/>
          </a:prstGeom>
          <a:solidFill>
            <a:srgbClr val="1B3A8A"/>
          </a:solidFill>
          <a:ln/>
        </p:spPr>
      </p:sp>
      <p:sp>
        <p:nvSpPr>
          <p:cNvPr id="16" name="Text 14"/>
          <p:cNvSpPr/>
          <p:nvPr/>
        </p:nvSpPr>
        <p:spPr>
          <a:xfrm>
            <a:off x="36576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AI / Tool Integration</a:t>
            </a:r>
            <a:endParaRPr lang="en-US" sz="1200"/>
          </a:p>
        </p:txBody>
      </p:sp>
      <p:sp>
        <p:nvSpPr>
          <p:cNvPr id="17" name="Text 15"/>
          <p:cNvSpPr/>
          <p:nvPr/>
        </p:nvSpPr>
        <p:spPr>
          <a:xfrm>
            <a:off x="365760" y="3383280"/>
            <a:ext cx="4023360" cy="1188720"/>
          </a:xfrm>
          <a:prstGeom prst="rect">
            <a:avLst/>
          </a:prstGeom>
          <a:noFill/>
          <a:ln/>
        </p:spPr>
        <p:txBody>
          <a:bodyPr wrap="square" rtlCol="0" anchor="t"/>
          <a:lstStyle/>
          <a:p>
            <a:r>
              <a:rPr lang="en-US" sz="1200" dirty="0"/>
              <a:t>Microsoft Excel is used for data cleaning and analysis, while Power BI is used for visualization and dashboard creation. ChatGPT is integrated to assist in generating explanations, insights, and project documentation.</a:t>
            </a:r>
          </a:p>
          <a:p>
            <a:pPr marL="0" indent="0">
              <a:buNone/>
            </a:pPr>
            <a:endParaRPr lang="en-US" sz="1150" dirty="0"/>
          </a:p>
        </p:txBody>
      </p:sp>
      <p:sp>
        <p:nvSpPr>
          <p:cNvPr id="18" name="Shape 16"/>
          <p:cNvSpPr/>
          <p:nvPr/>
        </p:nvSpPr>
        <p:spPr>
          <a:xfrm>
            <a:off x="4709160" y="2926080"/>
            <a:ext cx="4114800" cy="384048"/>
          </a:xfrm>
          <a:prstGeom prst="rect">
            <a:avLst/>
          </a:prstGeom>
          <a:solidFill>
            <a:srgbClr val="1565C0"/>
          </a:solidFill>
          <a:ln/>
        </p:spPr>
      </p:sp>
      <p:sp>
        <p:nvSpPr>
          <p:cNvPr id="19" name="Shape 17"/>
          <p:cNvSpPr/>
          <p:nvPr/>
        </p:nvSpPr>
        <p:spPr>
          <a:xfrm>
            <a:off x="8641080" y="2926080"/>
            <a:ext cx="320040" cy="384048"/>
          </a:xfrm>
          <a:prstGeom prst="rect">
            <a:avLst/>
          </a:prstGeom>
          <a:solidFill>
            <a:srgbClr val="1B3A8A"/>
          </a:solidFill>
          <a:ln/>
        </p:spPr>
      </p:sp>
      <p:sp>
        <p:nvSpPr>
          <p:cNvPr id="20" name="Text 18"/>
          <p:cNvSpPr/>
          <p:nvPr/>
        </p:nvSpPr>
        <p:spPr>
          <a:xfrm>
            <a:off x="480060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Output / Dashboard</a:t>
            </a:r>
            <a:endParaRPr lang="en-US" sz="1200"/>
          </a:p>
        </p:txBody>
      </p:sp>
      <p:sp>
        <p:nvSpPr>
          <p:cNvPr id="21" name="Text 19"/>
          <p:cNvSpPr/>
          <p:nvPr/>
        </p:nvSpPr>
        <p:spPr>
          <a:xfrm>
            <a:off x="4800600" y="3383280"/>
            <a:ext cx="4023360" cy="1188720"/>
          </a:xfrm>
          <a:prstGeom prst="rect">
            <a:avLst/>
          </a:prstGeom>
          <a:noFill/>
          <a:ln/>
        </p:spPr>
        <p:txBody>
          <a:bodyPr wrap="square" rtlCol="0" anchor="t"/>
          <a:lstStyle/>
          <a:p>
            <a:r>
              <a:rPr lang="en-US" sz="1200" dirty="0"/>
              <a:t>The final output is an interactive Power BI dashboard that includes visualizations such as sales by region, top-selling products, sales trends over time, and price vs quantity relationship. It also includes slicers for dynamic filtering based on country and date.</a:t>
            </a:r>
          </a:p>
          <a:p>
            <a:pPr marL="0" indent="0">
              <a:buNone/>
            </a:pP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Live Demo of Project</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0" name="Text 8"/>
          <p:cNvSpPr/>
          <p:nvPr/>
        </p:nvSpPr>
        <p:spPr>
          <a:xfrm>
            <a:off x="265176" y="1664449"/>
            <a:ext cx="2788920" cy="411480"/>
          </a:xfrm>
          <a:prstGeom prst="rect">
            <a:avLst/>
          </a:prstGeom>
          <a:noFill/>
          <a:ln/>
        </p:spPr>
        <p:txBody>
          <a:bodyPr wrap="square" rtlCol="0" anchor="ctr"/>
          <a:lstStyle/>
          <a:p>
            <a:pPr marL="0" indent="0" algn="ctr">
              <a:buNone/>
            </a:pPr>
            <a:r>
              <a:rPr lang="en-US" sz="1600" b="1" dirty="0">
                <a:latin typeface="Calibri" pitchFamily="34" charset="0"/>
                <a:ea typeface="Calibri" pitchFamily="34" charset="-122"/>
                <a:cs typeface="Calibri" pitchFamily="34" charset="-120"/>
              </a:rPr>
              <a:t>Demo 1</a:t>
            </a:r>
            <a:endParaRPr lang="en-US" sz="1600" dirty="0"/>
          </a:p>
        </p:txBody>
      </p:sp>
      <p:sp>
        <p:nvSpPr>
          <p:cNvPr id="11" name="Text 9"/>
          <p:cNvSpPr/>
          <p:nvPr/>
        </p:nvSpPr>
        <p:spPr>
          <a:xfrm>
            <a:off x="411480" y="3416350"/>
            <a:ext cx="2514600" cy="1371600"/>
          </a:xfrm>
          <a:prstGeom prst="rect">
            <a:avLst/>
          </a:prstGeom>
          <a:noFill/>
          <a:ln/>
        </p:spPr>
        <p:txBody>
          <a:bodyPr wrap="square" rtlCol="0" anchor="ctr"/>
          <a:lstStyle/>
          <a:p>
            <a:pPr algn="ctr"/>
            <a:r>
              <a:rPr lang="en-US" sz="1050" dirty="0">
                <a:solidFill>
                  <a:schemeClr val="bg1"/>
                </a:solidFill>
              </a:rPr>
              <a:t>This demo shows the regional sales performance, highlighting that the United Kingdom contributes the highest revenue among all countries</a:t>
            </a:r>
            <a:r>
              <a:rPr lang="en-US" sz="1050" dirty="0"/>
              <a:t>.</a:t>
            </a:r>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18688"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5" name="Text 13"/>
          <p:cNvSpPr/>
          <p:nvPr/>
        </p:nvSpPr>
        <p:spPr>
          <a:xfrm>
            <a:off x="3218688" y="1664483"/>
            <a:ext cx="2788920" cy="411480"/>
          </a:xfrm>
          <a:prstGeom prst="rect">
            <a:avLst/>
          </a:prstGeom>
          <a:noFill/>
          <a:ln/>
        </p:spPr>
        <p:txBody>
          <a:bodyPr wrap="square" rtlCol="0" anchor="ctr"/>
          <a:lstStyle/>
          <a:p>
            <a:pPr marL="0" indent="0" algn="ctr">
              <a:buNone/>
            </a:pPr>
            <a:r>
              <a:rPr lang="en-US" sz="1600" b="1" dirty="0">
                <a:latin typeface="Calibri" pitchFamily="34" charset="0"/>
                <a:ea typeface="Calibri" pitchFamily="34" charset="-122"/>
                <a:cs typeface="Calibri" pitchFamily="34" charset="-120"/>
              </a:rPr>
              <a:t>Demo 2</a:t>
            </a:r>
            <a:endParaRPr lang="en-US" sz="1600" dirty="0"/>
          </a:p>
        </p:txBody>
      </p:sp>
      <p:sp>
        <p:nvSpPr>
          <p:cNvPr id="16" name="Text 14"/>
          <p:cNvSpPr/>
          <p:nvPr/>
        </p:nvSpPr>
        <p:spPr>
          <a:xfrm>
            <a:off x="3383280" y="3410437"/>
            <a:ext cx="2514600" cy="1371600"/>
          </a:xfrm>
          <a:prstGeom prst="rect">
            <a:avLst/>
          </a:prstGeom>
          <a:noFill/>
          <a:ln/>
        </p:spPr>
        <p:txBody>
          <a:bodyPr wrap="square" rtlCol="0" anchor="ctr"/>
          <a:lstStyle/>
          <a:p>
            <a:pPr algn="ctr"/>
            <a:r>
              <a:rPr lang="en-US" sz="1050" dirty="0">
                <a:solidFill>
                  <a:schemeClr val="bg1"/>
                </a:solidFill>
              </a:rPr>
              <a:t>This demo displays the top-selling products based on units sold, helping identify high-demand products and their contribution to overall sales</a:t>
            </a:r>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20" name="Text 18"/>
          <p:cNvSpPr/>
          <p:nvPr/>
        </p:nvSpPr>
        <p:spPr>
          <a:xfrm>
            <a:off x="6089904" y="1687068"/>
            <a:ext cx="2788920" cy="411480"/>
          </a:xfrm>
          <a:prstGeom prst="rect">
            <a:avLst/>
          </a:prstGeom>
          <a:noFill/>
          <a:ln/>
        </p:spPr>
        <p:txBody>
          <a:bodyPr wrap="square" rtlCol="0" anchor="ctr"/>
          <a:lstStyle/>
          <a:p>
            <a:pPr marL="0" indent="0" algn="ctr">
              <a:buNone/>
            </a:pPr>
            <a:r>
              <a:rPr lang="en-US" sz="1600" b="1" dirty="0">
                <a:latin typeface="Calibri" pitchFamily="34" charset="0"/>
                <a:ea typeface="Calibri" pitchFamily="34" charset="-122"/>
                <a:cs typeface="Calibri" pitchFamily="34" charset="-120"/>
              </a:rPr>
              <a:t>Demo 3</a:t>
            </a:r>
            <a:endParaRPr lang="en-US" sz="1600" dirty="0"/>
          </a:p>
        </p:txBody>
      </p:sp>
      <p:sp>
        <p:nvSpPr>
          <p:cNvPr id="21" name="Text 19"/>
          <p:cNvSpPr/>
          <p:nvPr/>
        </p:nvSpPr>
        <p:spPr>
          <a:xfrm>
            <a:off x="6333973" y="3487370"/>
            <a:ext cx="2514600" cy="1371600"/>
          </a:xfrm>
          <a:prstGeom prst="rect">
            <a:avLst/>
          </a:prstGeom>
          <a:noFill/>
          <a:ln/>
        </p:spPr>
        <p:txBody>
          <a:bodyPr wrap="square" rtlCol="0" anchor="ctr"/>
          <a:lstStyle/>
          <a:p>
            <a:pPr algn="ctr"/>
            <a:r>
              <a:rPr lang="en-US" sz="1050" dirty="0">
                <a:solidFill>
                  <a:schemeClr val="bg1"/>
                </a:solidFill>
              </a:rPr>
              <a:t>This demo presents the complete Power BI dashboard, including multiple visualizations such as sales trends, product performance, and price vs quantity relationship for better business insights</a:t>
            </a:r>
            <a:endParaRPr lang="en-US" sz="1050" dirty="0"/>
          </a:p>
          <a:p>
            <a:pPr marL="0" indent="0" algn="ctr">
              <a:buNone/>
            </a:pPr>
            <a:endParaRPr lang="en-US" sz="1050" dirty="0"/>
          </a:p>
        </p:txBody>
      </p:sp>
      <p:pic>
        <p:nvPicPr>
          <p:cNvPr id="23" name="Picture 22">
            <a:extLst>
              <a:ext uri="{FF2B5EF4-FFF2-40B4-BE49-F238E27FC236}">
                <a16:creationId xmlns:a16="http://schemas.microsoft.com/office/drawing/2014/main" id="{7317C0E2-2C58-9E53-B855-29F69B711504}"/>
              </a:ext>
            </a:extLst>
          </p:cNvPr>
          <p:cNvPicPr>
            <a:picLocks noChangeAspect="1"/>
          </p:cNvPicPr>
          <p:nvPr/>
        </p:nvPicPr>
        <p:blipFill>
          <a:blip r:embed="rId3"/>
          <a:stretch>
            <a:fillRect/>
          </a:stretch>
        </p:blipFill>
        <p:spPr>
          <a:xfrm>
            <a:off x="527809" y="2200439"/>
            <a:ext cx="2236222" cy="1421823"/>
          </a:xfrm>
          <a:prstGeom prst="rect">
            <a:avLst/>
          </a:prstGeom>
        </p:spPr>
      </p:pic>
      <p:pic>
        <p:nvPicPr>
          <p:cNvPr id="25" name="Picture 24">
            <a:extLst>
              <a:ext uri="{FF2B5EF4-FFF2-40B4-BE49-F238E27FC236}">
                <a16:creationId xmlns:a16="http://schemas.microsoft.com/office/drawing/2014/main" id="{F5844B31-8C03-5838-2166-5AE40CDA13CC}"/>
              </a:ext>
            </a:extLst>
          </p:cNvPr>
          <p:cNvPicPr>
            <a:picLocks noChangeAspect="1"/>
          </p:cNvPicPr>
          <p:nvPr/>
        </p:nvPicPr>
        <p:blipFill>
          <a:blip r:embed="rId4"/>
          <a:stretch>
            <a:fillRect/>
          </a:stretch>
        </p:blipFill>
        <p:spPr>
          <a:xfrm>
            <a:off x="3452803" y="2169414"/>
            <a:ext cx="2311546" cy="1452848"/>
          </a:xfrm>
          <a:prstGeom prst="rect">
            <a:avLst/>
          </a:prstGeom>
        </p:spPr>
      </p:pic>
      <p:pic>
        <p:nvPicPr>
          <p:cNvPr id="27" name="Picture 26">
            <a:extLst>
              <a:ext uri="{FF2B5EF4-FFF2-40B4-BE49-F238E27FC236}">
                <a16:creationId xmlns:a16="http://schemas.microsoft.com/office/drawing/2014/main" id="{C97DBC1C-1067-9A50-3C4F-F1CC6C7F9DFE}"/>
              </a:ext>
            </a:extLst>
          </p:cNvPr>
          <p:cNvPicPr>
            <a:picLocks noChangeAspect="1"/>
          </p:cNvPicPr>
          <p:nvPr/>
        </p:nvPicPr>
        <p:blipFill>
          <a:blip r:embed="rId5"/>
          <a:stretch>
            <a:fillRect/>
          </a:stretch>
        </p:blipFill>
        <p:spPr>
          <a:xfrm>
            <a:off x="6302785" y="2212230"/>
            <a:ext cx="2500317" cy="14114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sp>
      <p:sp>
        <p:nvSpPr>
          <p:cNvPr id="7" name="Shape 5"/>
          <p:cNvSpPr/>
          <p:nvPr/>
        </p:nvSpPr>
        <p:spPr>
          <a:xfrm>
            <a:off x="365760" y="685800"/>
            <a:ext cx="8412480" cy="384048"/>
          </a:xfrm>
          <a:prstGeom prst="rect">
            <a:avLst/>
          </a:prstGeom>
          <a:solidFill>
            <a:srgbClr val="E0E0E0"/>
          </a:solidFill>
          <a:ln/>
        </p:spPr>
      </p:sp>
      <p:sp>
        <p:nvSpPr>
          <p:cNvPr id="8" name="Shape 6"/>
          <p:cNvSpPr/>
          <p:nvPr/>
        </p:nvSpPr>
        <p:spPr>
          <a:xfrm>
            <a:off x="502920" y="777240"/>
            <a:ext cx="164592" cy="164592"/>
          </a:xfrm>
          <a:prstGeom prst="ellipse">
            <a:avLst/>
          </a:prstGeom>
          <a:solidFill>
            <a:srgbClr val="FF5F57"/>
          </a:solidFill>
          <a:ln/>
        </p:spPr>
      </p:sp>
      <p:sp>
        <p:nvSpPr>
          <p:cNvPr id="9" name="Shape 7"/>
          <p:cNvSpPr/>
          <p:nvPr/>
        </p:nvSpPr>
        <p:spPr>
          <a:xfrm>
            <a:off x="731520" y="777240"/>
            <a:ext cx="164592" cy="164592"/>
          </a:xfrm>
          <a:prstGeom prst="ellipse">
            <a:avLst/>
          </a:prstGeom>
          <a:solidFill>
            <a:srgbClr val="FEBC2E"/>
          </a:solidFill>
          <a:ln/>
        </p:spPr>
      </p:sp>
      <p:sp>
        <p:nvSpPr>
          <p:cNvPr id="10" name="Shape 8"/>
          <p:cNvSpPr/>
          <p:nvPr/>
        </p:nvSpPr>
        <p:spPr>
          <a:xfrm>
            <a:off x="960120" y="777240"/>
            <a:ext cx="164592" cy="164592"/>
          </a:xfrm>
          <a:prstGeom prst="ellipse">
            <a:avLst/>
          </a:prstGeom>
          <a:solidFill>
            <a:srgbClr val="28C840"/>
          </a:solidFill>
          <a:ln/>
        </p:spPr>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sp>
      <p:sp>
        <p:nvSpPr>
          <p:cNvPr id="12" name="Text 10"/>
          <p:cNvSpPr/>
          <p:nvPr/>
        </p:nvSpPr>
        <p:spPr>
          <a:xfrm>
            <a:off x="1389888" y="768096"/>
            <a:ext cx="4992624" cy="219456"/>
          </a:xfrm>
          <a:prstGeom prst="rect">
            <a:avLst/>
          </a:prstGeom>
          <a:noFill/>
          <a:ln/>
        </p:spPr>
        <p:txBody>
          <a:bodyPr wrap="square" rtlCol="0" anchor="ctr"/>
          <a:lstStyle/>
          <a:p>
            <a:r>
              <a:rPr lang="en-US" sz="900" dirty="0">
                <a:hlinkClick r:id="rId3"/>
              </a:rPr>
              <a:t>https://drive.google.com/file/d/1MMOPuVDT3CBnkT3lGQKKGFmFTHUMPEep/view?usp=sharing</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a:solidFill>
                  <a:srgbClr val="607D8B"/>
                </a:solidFill>
                <a:latin typeface="Calibri" pitchFamily="34" charset="0"/>
                <a:ea typeface="Calibri" pitchFamily="34" charset="-122"/>
                <a:cs typeface="Calibri" pitchFamily="34" charset="-120"/>
              </a:rPr>
              <a:t>[Insert your project demo video.</a:t>
            </a:r>
            <a:endParaRPr lang="en-US" sz="1100"/>
          </a:p>
          <a:p>
            <a:pPr marL="0" indent="0" algn="ctr">
              <a:buNone/>
            </a:pPr>
            <a:r>
              <a:rPr lang="en-US" sz="1100" i="1">
                <a:solidFill>
                  <a:srgbClr val="607D8B"/>
                </a:solidFill>
                <a:latin typeface="Calibri" pitchFamily="34" charset="0"/>
                <a:ea typeface="Calibri" pitchFamily="34" charset="-122"/>
                <a:cs typeface="Calibri" pitchFamily="34" charset="-120"/>
              </a:rPr>
              <a:t>You can embed a video your live project.]</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Conclusion</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r>
              <a:rPr lang="en-US" sz="1400" dirty="0"/>
              <a:t>The project successfully analyzed the online retail dataset and generated meaningful business insights. Key findings include the identification of top-performing products, regional sales contribution, and sales trends over time. The integration of Excel for data cleaning and Power BI for visualization helped transform raw data into a clear and structured dashboard. The objectives of the project were achieved, and the results demonstrate the importance of data analytics in supporting effective business decision-making.</a:t>
            </a:r>
          </a:p>
          <a:p>
            <a:pPr marL="0" indent="0">
              <a:buNone/>
            </a:pP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Shape 14"/>
          <p:cNvSpPr/>
          <p:nvPr/>
        </p:nvSpPr>
        <p:spPr>
          <a:xfrm>
            <a:off x="5394960" y="1005840"/>
            <a:ext cx="2834640" cy="2834640"/>
          </a:xfrm>
          <a:prstGeom prst="ellipse">
            <a:avLst/>
          </a:prstGeom>
          <a:solidFill>
            <a:srgbClr val="1B3A8A"/>
          </a:solidFill>
          <a:ln/>
        </p:spPr>
      </p:sp>
      <p:sp>
        <p:nvSpPr>
          <p:cNvPr id="17" name="Text 15"/>
          <p:cNvSpPr/>
          <p:nvPr/>
        </p:nvSpPr>
        <p:spPr>
          <a:xfrm>
            <a:off x="5394960" y="1005840"/>
            <a:ext cx="2834640" cy="2194560"/>
          </a:xfrm>
          <a:prstGeom prst="rect">
            <a:avLst/>
          </a:prstGeom>
          <a:noFill/>
          <a:ln/>
        </p:spPr>
        <p:txBody>
          <a:bodyPr wrap="square" rtlCol="0" anchor="ctr"/>
          <a:lstStyle/>
          <a:p>
            <a:pPr marL="0" indent="0" algn="ctr">
              <a:buNone/>
            </a:pPr>
            <a:r>
              <a:rPr lang="en-US" sz="6000">
                <a:solidFill>
                  <a:srgbClr val="000000"/>
                </a:solidFill>
              </a:rPr>
              <a:t>✅</a:t>
            </a:r>
            <a:endParaRPr lang="en-US" sz="6000"/>
          </a:p>
        </p:txBody>
      </p:sp>
      <p:sp>
        <p:nvSpPr>
          <p:cNvPr id="18" name="Shape 16"/>
          <p:cNvSpPr/>
          <p:nvPr/>
        </p:nvSpPr>
        <p:spPr>
          <a:xfrm>
            <a:off x="5303520" y="3474720"/>
            <a:ext cx="3017520" cy="502920"/>
          </a:xfrm>
          <a:prstGeom prst="rect">
            <a:avLst/>
          </a:prstGeom>
          <a:solidFill>
            <a:srgbClr val="1565C0"/>
          </a:solidFill>
          <a:ln/>
        </p:spPr>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a:solidFill>
                  <a:srgbClr val="FFFFFF"/>
                </a:solidFill>
                <a:latin typeface="Calibri" pitchFamily="34" charset="0"/>
                <a:ea typeface="Calibri" pitchFamily="34" charset="-122"/>
                <a:cs typeface="Calibri" pitchFamily="34" charset="-120"/>
              </a:rPr>
              <a:t>CONCLUSION</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Future Scope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r>
              <a:rPr lang="en-US" sz="1400" dirty="0"/>
              <a:t>The project can be further enhanced by integrating advanced tools such as machine learning models for predicting future sales trends and customer behavior. Real-time data integration can be added to improve the accuracy and timeliness of insights. Additional features such as customer segmentation and profit analysis can be included for deeper business understanding. The dashboard can also be expanded with more interactive features and larger datasets to improve scalability and usability.</a:t>
            </a:r>
          </a:p>
          <a:p>
            <a:pPr marL="0" indent="0">
              <a:buNone/>
            </a:pP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Text 14"/>
          <p:cNvSpPr/>
          <p:nvPr/>
        </p:nvSpPr>
        <p:spPr>
          <a:xfrm>
            <a:off x="4846320" y="914400"/>
            <a:ext cx="3931920" cy="2926080"/>
          </a:xfrm>
          <a:prstGeom prst="rect">
            <a:avLst/>
          </a:prstGeom>
          <a:noFill/>
          <a:ln/>
        </p:spPr>
        <p:txBody>
          <a:bodyPr wrap="square" rtlCol="0" anchor="ctr"/>
          <a:lstStyle/>
          <a:p>
            <a:pPr marL="0" indent="0" algn="ctr">
              <a:buNone/>
            </a:pPr>
            <a:r>
              <a:rPr lang="en-US" sz="10000">
                <a:solidFill>
                  <a:srgbClr val="000000"/>
                </a:solidFill>
              </a:rPr>
              <a:t>🧠</a:t>
            </a:r>
            <a:endParaRPr lang="en-US" sz="10000"/>
          </a:p>
        </p:txBody>
      </p:sp>
      <p:sp>
        <p:nvSpPr>
          <p:cNvPr id="17" name="Text 15"/>
          <p:cNvSpPr/>
          <p:nvPr/>
        </p:nvSpPr>
        <p:spPr>
          <a:xfrm>
            <a:off x="4846320" y="3703320"/>
            <a:ext cx="3931920" cy="320040"/>
          </a:xfrm>
          <a:prstGeom prst="rect">
            <a:avLst/>
          </a:prstGeom>
          <a:noFill/>
          <a:ln/>
        </p:spPr>
        <p:txBody>
          <a:bodyPr wrap="square" rtlCol="0" anchor="ctr"/>
          <a:lstStyle/>
          <a:p>
            <a:pPr marL="0" indent="0" algn="ctr">
              <a:buNone/>
            </a:pPr>
            <a:r>
              <a:rPr lang="en-US" sz="1000" i="1">
                <a:solidFill>
                  <a:srgbClr val="607D8B"/>
                </a:solidFill>
                <a:latin typeface="Calibri" pitchFamily="34" charset="0"/>
                <a:ea typeface="Calibri" pitchFamily="34" charset="-122"/>
                <a:cs typeface="Calibri" pitchFamily="34" charset="-120"/>
              </a:rPr>
              <a:t>[Future ideas &amp; roadmap]</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a:solidFill>
                  <a:srgbClr val="1B3A8A"/>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a:solidFill>
                  <a:srgbClr val="1565C0"/>
                </a:solidFill>
                <a:latin typeface="Calibri" pitchFamily="34" charset="0"/>
                <a:ea typeface="Calibri" pitchFamily="34" charset="-122"/>
                <a:cs typeface="Calibri"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a:solidFill>
                  <a:srgbClr val="607D8B"/>
                </a:solidFill>
                <a:latin typeface="Calibri"/>
                <a:ea typeface="Calibri"/>
                <a:cs typeface="Calibri"/>
              </a:rPr>
              <a:t>  LinkedIn  |   Edunet Foundation</a:t>
            </a:r>
            <a:endParaRPr lang="en-US" sz="1100"/>
          </a:p>
        </p:txBody>
      </p:sp>
      <p:sp>
        <p:nvSpPr>
          <p:cNvPr id="7" name="Shape 5"/>
          <p:cNvSpPr/>
          <p:nvPr/>
        </p:nvSpPr>
        <p:spPr>
          <a:xfrm>
            <a:off x="0" y="4983480"/>
            <a:ext cx="9144000" cy="160020"/>
          </a:xfrm>
          <a:prstGeom prst="rect">
            <a:avLst/>
          </a:prstGeom>
          <a:solidFill>
            <a:srgbClr val="1B3A8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1016</Words>
  <Application>Microsoft Office PowerPoint</Application>
  <PresentationFormat>On-screen Show (16:9)</PresentationFormat>
  <Paragraphs>117</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Rakshita Srivastava</cp:lastModifiedBy>
  <cp:revision>11</cp:revision>
  <dcterms:created xsi:type="dcterms:W3CDTF">2026-02-18T09:17:23Z</dcterms:created>
  <dcterms:modified xsi:type="dcterms:W3CDTF">2026-04-09T12:41:25Z</dcterms:modified>
</cp:coreProperties>
</file>